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Roboto Thin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oboto Medium"/>
      <p:regular r:id="rId23"/>
      <p:bold r:id="rId24"/>
      <p:italic r:id="rId25"/>
      <p:boldItalic r:id="rId26"/>
    </p:embeddedFont>
    <p:embeddedFont>
      <p:font typeface="Gill Sans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Medium-bold.fntdata"/><Relationship Id="rId23" Type="http://schemas.openxmlformats.org/officeDocument/2006/relationships/font" Target="fonts/Robot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boldItalic.fntdata"/><Relationship Id="rId25" Type="http://schemas.openxmlformats.org/officeDocument/2006/relationships/font" Target="fonts/RobotoMedium-italic.fntdata"/><Relationship Id="rId28" Type="http://schemas.openxmlformats.org/officeDocument/2006/relationships/font" Target="fonts/GillSans-bold.fntdata"/><Relationship Id="rId27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Thin-regular.fntdata"/><Relationship Id="rId14" Type="http://schemas.openxmlformats.org/officeDocument/2006/relationships/slide" Target="slides/slide9.xml"/><Relationship Id="rId17" Type="http://schemas.openxmlformats.org/officeDocument/2006/relationships/font" Target="fonts/RobotoThin-italic.fntdata"/><Relationship Id="rId16" Type="http://schemas.openxmlformats.org/officeDocument/2006/relationships/font" Target="fonts/RobotoThin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obotoThin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524000" y="2039514"/>
            <a:ext cx="9144000" cy="21280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ill Sans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524000" y="4221162"/>
            <a:ext cx="9144000" cy="882001"/>
          </a:xfrm>
          <a:prstGeom prst="rect">
            <a:avLst/>
          </a:prstGeom>
          <a:solidFill>
            <a:schemeClr val="accent2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rial"/>
              <a:buNone/>
              <a:defRPr b="1" i="1" sz="25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s with captions">
  <p:cSld name="Pictures with captio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4"/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839788" y="417362"/>
            <a:ext cx="3932237" cy="1302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552419" y="1887801"/>
            <a:ext cx="4057961" cy="1431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EFF2"/>
              </a:buClr>
              <a:buSzPts val="2000"/>
              <a:buNone/>
              <a:defRPr sz="2000">
                <a:solidFill>
                  <a:srgbClr val="DEEFF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4"/>
          <p:cNvSpPr/>
          <p:nvPr>
            <p:ph idx="3" type="pic"/>
          </p:nvPr>
        </p:nvSpPr>
        <p:spPr>
          <a:xfrm>
            <a:off x="844273" y="1883115"/>
            <a:ext cx="576000" cy="5760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4" type="pic"/>
          </p:nvPr>
        </p:nvSpPr>
        <p:spPr>
          <a:xfrm>
            <a:off x="844273" y="3573118"/>
            <a:ext cx="576000" cy="5760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 txBox="1"/>
          <p:nvPr>
            <p:ph idx="5" type="body"/>
          </p:nvPr>
        </p:nvSpPr>
        <p:spPr>
          <a:xfrm>
            <a:off x="1552418" y="3575461"/>
            <a:ext cx="4057961" cy="1431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EFF2"/>
              </a:buClr>
              <a:buSzPts val="2000"/>
              <a:buNone/>
              <a:defRPr sz="2000">
                <a:solidFill>
                  <a:srgbClr val="DEEFF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4"/>
          <p:cNvSpPr/>
          <p:nvPr>
            <p:ph idx="6" type="pic"/>
          </p:nvPr>
        </p:nvSpPr>
        <p:spPr>
          <a:xfrm>
            <a:off x="844273" y="5263121"/>
            <a:ext cx="576000" cy="5760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4"/>
          <p:cNvSpPr txBox="1"/>
          <p:nvPr>
            <p:ph idx="7" type="body"/>
          </p:nvPr>
        </p:nvSpPr>
        <p:spPr>
          <a:xfrm>
            <a:off x="1552418" y="5263122"/>
            <a:ext cx="4057961" cy="77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EFF2"/>
              </a:buClr>
              <a:buSzPts val="2000"/>
              <a:buNone/>
              <a:defRPr sz="2000">
                <a:solidFill>
                  <a:srgbClr val="DEEFF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ill Sans"/>
              <a:buNone/>
              <a:defRPr b="1" i="0" sz="32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"/>
                <a:ea typeface="Arial "/>
                <a:cs typeface="Arial "/>
                <a:sym typeface="Arial 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"/>
                <a:ea typeface="Arial "/>
                <a:cs typeface="Arial "/>
                <a:sym typeface="Arial 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"/>
                <a:ea typeface="Arial "/>
                <a:cs typeface="Arial "/>
                <a:sym typeface="Arial 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"/>
                <a:ea typeface="Arial "/>
                <a:cs typeface="Arial "/>
                <a:sym typeface="Arial 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Arial "/>
                <a:ea typeface="Arial "/>
                <a:cs typeface="Arial "/>
                <a:sym typeface="Arial 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 "/>
                <a:ea typeface="Arial "/>
                <a:cs typeface="Arial "/>
                <a:sym typeface="Arial 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 "/>
                <a:ea typeface="Arial "/>
                <a:cs typeface="Arial "/>
                <a:sym typeface="Arial 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 "/>
                <a:ea typeface="Arial "/>
                <a:cs typeface="Arial "/>
                <a:sym typeface="Arial "/>
              </a:defRPr>
            </a:lvl9pPr>
          </a:lstStyle>
          <a:p/>
        </p:txBody>
      </p:sp>
      <p:sp>
        <p:nvSpPr>
          <p:cNvPr id="14" name="Google Shape;14;p1"/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1" sz="1000" u="none" cap="none" strike="noStrike">
                <a:solidFill>
                  <a:schemeClr val="dk2"/>
                </a:solidFill>
                <a:latin typeface="Arial "/>
                <a:ea typeface="Arial "/>
                <a:cs typeface="Arial "/>
                <a:sym typeface="Arial "/>
              </a:defRPr>
            </a:lvl1pPr>
            <a:lvl2pPr indent="0" lvl="1" marL="0" marR="0" rtl="0" algn="r">
              <a:spcBef>
                <a:spcPts val="0"/>
              </a:spcBef>
              <a:buNone/>
              <a:defRPr b="0" i="1" sz="1000" u="none" cap="none" strike="noStrike">
                <a:solidFill>
                  <a:schemeClr val="dk2"/>
                </a:solidFill>
                <a:latin typeface="Arial "/>
                <a:ea typeface="Arial "/>
                <a:cs typeface="Arial "/>
                <a:sym typeface="Arial "/>
              </a:defRPr>
            </a:lvl2pPr>
            <a:lvl3pPr indent="0" lvl="2" marL="0" marR="0" rtl="0" algn="r">
              <a:spcBef>
                <a:spcPts val="0"/>
              </a:spcBef>
              <a:buNone/>
              <a:defRPr b="0" i="1" sz="1000" u="none" cap="none" strike="noStrike">
                <a:solidFill>
                  <a:schemeClr val="dk2"/>
                </a:solidFill>
                <a:latin typeface="Arial "/>
                <a:ea typeface="Arial "/>
                <a:cs typeface="Arial "/>
                <a:sym typeface="Arial "/>
              </a:defRPr>
            </a:lvl3pPr>
            <a:lvl4pPr indent="0" lvl="3" marL="0" marR="0" rtl="0" algn="r">
              <a:spcBef>
                <a:spcPts val="0"/>
              </a:spcBef>
              <a:buNone/>
              <a:defRPr b="0" i="1" sz="1000" u="none" cap="none" strike="noStrike">
                <a:solidFill>
                  <a:schemeClr val="dk2"/>
                </a:solidFill>
                <a:latin typeface="Arial "/>
                <a:ea typeface="Arial "/>
                <a:cs typeface="Arial "/>
                <a:sym typeface="Arial "/>
              </a:defRPr>
            </a:lvl4pPr>
            <a:lvl5pPr indent="0" lvl="4" marL="0" marR="0" rtl="0" algn="r">
              <a:spcBef>
                <a:spcPts val="0"/>
              </a:spcBef>
              <a:buNone/>
              <a:defRPr b="0" i="1" sz="1000" u="none" cap="none" strike="noStrike">
                <a:solidFill>
                  <a:schemeClr val="dk2"/>
                </a:solidFill>
                <a:latin typeface="Arial "/>
                <a:ea typeface="Arial "/>
                <a:cs typeface="Arial "/>
                <a:sym typeface="Arial "/>
              </a:defRPr>
            </a:lvl5pPr>
            <a:lvl6pPr indent="0" lvl="5" marL="0" marR="0" rtl="0" algn="r">
              <a:spcBef>
                <a:spcPts val="0"/>
              </a:spcBef>
              <a:buNone/>
              <a:defRPr b="0" i="1" sz="1000" u="none" cap="none" strike="noStrike">
                <a:solidFill>
                  <a:schemeClr val="dk2"/>
                </a:solidFill>
                <a:latin typeface="Arial "/>
                <a:ea typeface="Arial "/>
                <a:cs typeface="Arial "/>
                <a:sym typeface="Arial "/>
              </a:defRPr>
            </a:lvl6pPr>
            <a:lvl7pPr indent="0" lvl="6" marL="0" marR="0" rtl="0" algn="r">
              <a:spcBef>
                <a:spcPts val="0"/>
              </a:spcBef>
              <a:buNone/>
              <a:defRPr b="0" i="1" sz="1000" u="none" cap="none" strike="noStrike">
                <a:solidFill>
                  <a:schemeClr val="dk2"/>
                </a:solidFill>
                <a:latin typeface="Arial "/>
                <a:ea typeface="Arial "/>
                <a:cs typeface="Arial "/>
                <a:sym typeface="Arial "/>
              </a:defRPr>
            </a:lvl7pPr>
            <a:lvl8pPr indent="0" lvl="7" marL="0" marR="0" rtl="0" algn="r">
              <a:spcBef>
                <a:spcPts val="0"/>
              </a:spcBef>
              <a:buNone/>
              <a:defRPr b="0" i="1" sz="1000" u="none" cap="none" strike="noStrike">
                <a:solidFill>
                  <a:schemeClr val="dk2"/>
                </a:solidFill>
                <a:latin typeface="Arial "/>
                <a:ea typeface="Arial "/>
                <a:cs typeface="Arial "/>
                <a:sym typeface="Arial "/>
              </a:defRPr>
            </a:lvl8pPr>
            <a:lvl9pPr indent="0" lvl="8" marL="0" marR="0" rtl="0" algn="r">
              <a:spcBef>
                <a:spcPts val="0"/>
              </a:spcBef>
              <a:buNone/>
              <a:defRPr b="0" i="1" sz="1000" u="none" cap="none" strike="noStrike">
                <a:solidFill>
                  <a:schemeClr val="dk2"/>
                </a:solidFill>
                <a:latin typeface="Arial "/>
                <a:ea typeface="Arial "/>
                <a:cs typeface="Arial "/>
                <a:sym typeface="Arial 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3.jp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5.jp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3.jp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ue rectangle" id="91" name="Google Shape;91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" r="-1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descr="People with documents" id="92" name="Google Shape;92;p12"/>
          <p:cNvSpPr/>
          <p:nvPr/>
        </p:nvSpPr>
        <p:spPr>
          <a:xfrm>
            <a:off x="1270" y="0"/>
            <a:ext cx="12189460" cy="6858000"/>
          </a:xfrm>
          <a:custGeom>
            <a:rect b="b" l="l" r="r" t="t"/>
            <a:pathLst>
              <a:path extrusionOk="0" h="6858000" w="1218946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93" name="Google Shape;93;p12"/>
          <p:cNvSpPr txBox="1"/>
          <p:nvPr>
            <p:ph type="ctrTitle"/>
          </p:nvPr>
        </p:nvSpPr>
        <p:spPr>
          <a:xfrm>
            <a:off x="1524000" y="834888"/>
            <a:ext cx="9144000" cy="35118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r>
              <a:rPr lang="en-US" sz="4000"/>
              <a:t>Machine Learning Model to Forecast Early Loan Prepayments and Customer Retention in Retail Lending</a:t>
            </a:r>
            <a:br>
              <a:rPr lang="en-US" sz="5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br>
              <a:rPr lang="en-US" sz="5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 sz="3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Course: </a:t>
            </a:r>
            <a:r>
              <a:rPr lang="en-US" sz="3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Applied Research </a:t>
            </a:r>
            <a:r>
              <a:rPr lang="en-US" sz="3100"/>
              <a:t>Project</a:t>
            </a:r>
            <a:r>
              <a:rPr lang="en-US" sz="3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(B9AI10</a:t>
            </a:r>
            <a:r>
              <a:rPr lang="en-US" sz="3100"/>
              <a:t>7</a:t>
            </a:r>
            <a:r>
              <a:rPr lang="en-US" sz="3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_2</a:t>
            </a:r>
            <a:r>
              <a:rPr lang="en-US" sz="3100"/>
              <a:t>5</a:t>
            </a:r>
            <a:r>
              <a:rPr lang="en-US" sz="3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3100"/>
              <a:t>6</a:t>
            </a:r>
            <a:r>
              <a:rPr lang="en-US" sz="3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_TMD</a:t>
            </a:r>
            <a:r>
              <a:rPr lang="en-US" sz="3100"/>
              <a:t>1S</a:t>
            </a:r>
            <a:r>
              <a:rPr lang="en-US" sz="3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) </a:t>
            </a:r>
            <a:endParaRPr/>
          </a:p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3399700" y="4531300"/>
            <a:ext cx="5810400" cy="1723500"/>
          </a:xfrm>
          <a:prstGeom prst="rect">
            <a:avLst/>
          </a:prstGeom>
          <a:solidFill>
            <a:schemeClr val="accent2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sz="2800"/>
              <a:t>Presented by: Vivek Pandey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i="1" lang="en-US"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Student ID: 20057035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br>
              <a:rPr b="1" i="1" lang="en-US"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Module Leader: Prof. Claudio Gonzalez</a:t>
            </a:r>
            <a:endParaRPr b="1" i="1" sz="25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eige rectangle" id="95" name="Google Shape;95;p12"/>
          <p:cNvSpPr/>
          <p:nvPr/>
        </p:nvSpPr>
        <p:spPr>
          <a:xfrm>
            <a:off x="3108000" y="3150705"/>
            <a:ext cx="5976000" cy="0"/>
          </a:xfrm>
          <a:custGeom>
            <a:rect b="b" l="l" r="r" t="t"/>
            <a:pathLst>
              <a:path extrusionOk="0" h="120000"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n talks by phone" id="101" name="Google Shape;1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2" y="4665"/>
            <a:ext cx="6991350" cy="6848669"/>
          </a:xfrm>
          <a:prstGeom prst="rect">
            <a:avLst/>
          </a:prstGeom>
          <a:noFill/>
          <a:ln>
            <a:noFill/>
          </a:ln>
        </p:spPr>
      </p:pic>
      <p:sp>
        <p:nvSpPr>
          <p:cNvPr descr="Beige rectangle" id="102" name="Google Shape;102;p13"/>
          <p:cNvSpPr/>
          <p:nvPr/>
        </p:nvSpPr>
        <p:spPr>
          <a:xfrm>
            <a:off x="8181340" y="119273"/>
            <a:ext cx="4010660" cy="6639336"/>
          </a:xfrm>
          <a:custGeom>
            <a:rect b="b" l="l" r="r" t="t"/>
            <a:pathLst>
              <a:path extrusionOk="0" h="333375" w="4010659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descr="Blue rectangle" id="103" name="Google Shape;103;p13"/>
          <p:cNvSpPr/>
          <p:nvPr/>
        </p:nvSpPr>
        <p:spPr>
          <a:xfrm>
            <a:off x="4080476" y="271096"/>
            <a:ext cx="7991062" cy="6315806"/>
          </a:xfrm>
          <a:custGeom>
            <a:rect b="b" l="l" r="r" t="t"/>
            <a:pathLst>
              <a:path extrusionOk="0" h="3528060" w="6689725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104" name="Google Shape;104;p13"/>
          <p:cNvSpPr txBox="1"/>
          <p:nvPr>
            <p:ph type="title"/>
          </p:nvPr>
        </p:nvSpPr>
        <p:spPr>
          <a:xfrm>
            <a:off x="4738482" y="468411"/>
            <a:ext cx="6115048" cy="741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</a:pPr>
            <a:r>
              <a:rPr lang="en-US">
                <a:solidFill>
                  <a:schemeClr val="lt1"/>
                </a:solidFill>
              </a:rPr>
              <a:t>RESEARCH BACKGROUND: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11953460" y="6594102"/>
            <a:ext cx="236157" cy="259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Beige rectangle" id="106" name="Google Shape;106;p13"/>
          <p:cNvSpPr/>
          <p:nvPr/>
        </p:nvSpPr>
        <p:spPr>
          <a:xfrm flipH="1" rot="10800000">
            <a:off x="4811337" y="1097631"/>
            <a:ext cx="5563241" cy="45600"/>
          </a:xfrm>
          <a:custGeom>
            <a:rect b="b" l="l" r="r" t="t"/>
            <a:pathLst>
              <a:path extrusionOk="0" h="120000"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4678025" y="1210200"/>
            <a:ext cx="6691800" cy="2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F9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3F9FF"/>
                </a:solidFill>
                <a:latin typeface="Gill Sans"/>
                <a:ea typeface="Gill Sans"/>
                <a:cs typeface="Gill Sans"/>
                <a:sym typeface="Gill Sans"/>
              </a:rPr>
              <a:t>Early loan repayment will impact the lenders’ cash flow and loan portfolio.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3F9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3F9FF"/>
                </a:solidFill>
                <a:latin typeface="Gill Sans"/>
                <a:ea typeface="Gill Sans"/>
                <a:cs typeface="Gill Sans"/>
                <a:sym typeface="Gill Sans"/>
              </a:rPr>
              <a:t>In traditional models, there are origination features, but these features are not dynamic; rather, they become less relevant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3F9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3F9FF"/>
                </a:solidFill>
                <a:latin typeface="Gill Sans"/>
                <a:ea typeface="Gill Sans"/>
                <a:cs typeface="Gill Sans"/>
                <a:sym typeface="Gill Sans"/>
              </a:rPr>
              <a:t>The borrower behavior changes, yet the overall modeling does not account for the time series nature of the data.</a:t>
            </a:r>
            <a:endParaRPr i="1" sz="1600">
              <a:solidFill>
                <a:srgbClr val="D3F9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3F9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3F9FF"/>
                </a:solidFill>
                <a:latin typeface="Gill Sans"/>
                <a:ea typeface="Gill Sans"/>
                <a:cs typeface="Gill Sans"/>
                <a:sym typeface="Gill Sans"/>
              </a:rPr>
              <a:t>Sequence models model behavior but fail to consider borrower credit context</a:t>
            </a:r>
            <a:endParaRPr sz="1600">
              <a:solidFill>
                <a:srgbClr val="D3F9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3F9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3F9FF"/>
                </a:solidFill>
                <a:latin typeface="Gill Sans"/>
                <a:ea typeface="Gill Sans"/>
                <a:cs typeface="Gill Sans"/>
                <a:sym typeface="Gill Sans"/>
              </a:rPr>
              <a:t>The data available for real-world lending is incomplete, making direct modeling of their behavior difficult.</a:t>
            </a:r>
            <a:endParaRPr i="1" sz="1600">
              <a:solidFill>
                <a:srgbClr val="D3F9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4738481" y="3483201"/>
            <a:ext cx="6438678" cy="774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</a:pPr>
            <a:r>
              <a:rPr b="1" lang="en-US" sz="3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PROBLEM STATEMENT:</a:t>
            </a:r>
            <a:endParaRPr b="1" sz="3200">
              <a:solidFill>
                <a:schemeClr val="accent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Beige rectangle" id="109" name="Google Shape;109;p13"/>
          <p:cNvSpPr/>
          <p:nvPr/>
        </p:nvSpPr>
        <p:spPr>
          <a:xfrm flipH="1" rot="10800000">
            <a:off x="4789715" y="4003545"/>
            <a:ext cx="4751850" cy="156645"/>
          </a:xfrm>
          <a:custGeom>
            <a:rect b="b" l="l" r="r" t="t"/>
            <a:pathLst>
              <a:path extrusionOk="0" h="120000"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4633625" y="4288401"/>
            <a:ext cx="6691800" cy="2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F9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3F9FF"/>
                </a:solidFill>
                <a:latin typeface="Gill Sans"/>
                <a:ea typeface="Gill Sans"/>
                <a:cs typeface="Gill Sans"/>
                <a:sym typeface="Gill Sans"/>
              </a:rPr>
              <a:t>The existing models are not capable of making a precise prepayment forecast at an early stage.</a:t>
            </a:r>
            <a:endParaRPr i="1" sz="1600">
              <a:solidFill>
                <a:srgbClr val="D3F9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3F9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3F9FF"/>
                </a:solidFill>
                <a:latin typeface="Gill Sans"/>
                <a:ea typeface="Gill Sans"/>
                <a:cs typeface="Gill Sans"/>
                <a:sym typeface="Gill Sans"/>
              </a:rPr>
              <a:t>Static models neglect behavioral change; sequence models neglect the structure of borrowers.</a:t>
            </a:r>
            <a:endParaRPr i="1" sz="1600">
              <a:solidFill>
                <a:srgbClr val="D3F9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3F9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3F9FF"/>
                </a:solidFill>
                <a:latin typeface="Gill Sans"/>
                <a:ea typeface="Gill Sans"/>
                <a:cs typeface="Gill Sans"/>
                <a:sym typeface="Gill Sans"/>
              </a:rPr>
              <a:t>Many “advanced” models have challenges related to interpretation and deployment.</a:t>
            </a:r>
            <a:endParaRPr i="1" sz="1600">
              <a:solidFill>
                <a:srgbClr val="D3F9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3F9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3F9FF"/>
                </a:solidFill>
                <a:latin typeface="Gill Sans"/>
                <a:ea typeface="Gill Sans"/>
                <a:cs typeface="Gill Sans"/>
                <a:sym typeface="Gill Sans"/>
              </a:rPr>
              <a:t>A hybrid framework that integrates static concepts with real-world constraints into behavioral models is required.</a:t>
            </a:r>
            <a:endParaRPr i="1" sz="1600">
              <a:solidFill>
                <a:srgbClr val="D3F9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ank with solid fill" id="111" name="Google Shape;11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4626" y="44068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instorm outline" id="112" name="Google Shape;11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9470" y="337836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estion mark with solid fill" id="113" name="Google Shape;11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74575" y="337836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ople's hands" id="119" name="Google Shape;119;p14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" y="0"/>
            <a:ext cx="12189600" cy="68566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Blue rectangle" id="120" name="Google Shape;120;p14"/>
          <p:cNvSpPr/>
          <p:nvPr/>
        </p:nvSpPr>
        <p:spPr>
          <a:xfrm>
            <a:off x="-20093" y="0"/>
            <a:ext cx="12189600" cy="6858000"/>
          </a:xfrm>
          <a:custGeom>
            <a:rect b="b" l="l" r="r" t="t"/>
            <a:pathLst>
              <a:path extrusionOk="0" h="6858000" w="1218946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2">
              <a:alpha val="69803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descr="Beige oval" id="121" name="Google Shape;121;p14"/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122" name="Google Shape;122;p14"/>
          <p:cNvSpPr txBox="1"/>
          <p:nvPr>
            <p:ph type="title"/>
          </p:nvPr>
        </p:nvSpPr>
        <p:spPr>
          <a:xfrm>
            <a:off x="727458" y="102108"/>
            <a:ext cx="1494633" cy="758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ill Sans"/>
              <a:buNone/>
            </a:pPr>
            <a:r>
              <a:rPr lang="en-US">
                <a:solidFill>
                  <a:schemeClr val="lt1"/>
                </a:solidFill>
              </a:rPr>
              <a:t>AIM:</a:t>
            </a:r>
            <a:endParaRPr/>
          </a:p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Beige rectangle" id="124" name="Google Shape;124;p14"/>
          <p:cNvSpPr/>
          <p:nvPr/>
        </p:nvSpPr>
        <p:spPr>
          <a:xfrm>
            <a:off x="806117" y="759181"/>
            <a:ext cx="820398" cy="45719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pic>
        <p:nvPicPr>
          <p:cNvPr descr="Data displayed on screen" id="125" name="Google Shape;1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4504" y="0"/>
            <a:ext cx="315495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622855" y="962766"/>
            <a:ext cx="8039364" cy="1321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1D0D9"/>
              </a:buClr>
              <a:buSzPts val="2200"/>
              <a:buFont typeface="Gill Sans"/>
              <a:buNone/>
            </a:pPr>
            <a:r>
              <a:rPr lang="en-US" sz="2200">
                <a:solidFill>
                  <a:srgbClr val="A1D0D9"/>
                </a:solidFill>
                <a:latin typeface="Gill Sans"/>
                <a:ea typeface="Gill Sans"/>
                <a:cs typeface="Gill Sans"/>
                <a:sym typeface="Gill Sans"/>
              </a:rPr>
              <a:t>To design a hybrid machine learning model to predict prepayment for a loan and incorporate static consumer data and behavioral patterns to better manage risk and retention of customers for retailers.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47956" y="2284523"/>
            <a:ext cx="48915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r>
              <a:rPr b="1" lang="en-US" sz="3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1" lang="en-US" sz="3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RESEARCH OBJECTIVE:</a:t>
            </a:r>
            <a:endParaRPr b="1" sz="3200">
              <a:solidFill>
                <a:schemeClr val="accent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Beige rectangle" id="128" name="Google Shape;128;p14"/>
          <p:cNvSpPr/>
          <p:nvPr/>
        </p:nvSpPr>
        <p:spPr>
          <a:xfrm flipH="1" rot="10800000">
            <a:off x="806131" y="2668448"/>
            <a:ext cx="4354601" cy="26580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622850" y="3044300"/>
            <a:ext cx="80394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1D0D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rgbClr val="A1D0D9"/>
                </a:solidFill>
                <a:latin typeface="Gill Sans"/>
                <a:ea typeface="Gill Sans"/>
                <a:cs typeface="Gill Sans"/>
                <a:sym typeface="Gill Sans"/>
              </a:rPr>
              <a:t>To compare traditional tabular models (XGBoost and ANN) for early prepayment prediction with respect to fixed loan and borrower characteristics.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1D0D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rgbClr val="A1D0D9"/>
                </a:solidFill>
                <a:latin typeface="Gill Sans"/>
                <a:ea typeface="Gill Sans"/>
                <a:cs typeface="Gill Sans"/>
                <a:sym typeface="Gill Sans"/>
              </a:rPr>
              <a:t>To evaluate the applicability of sequence-based Deep Learning approaches (LSTM, CNN) for describing repayment behavior in realistic data settings.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1D0D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rgbClr val="A1D0D9"/>
                </a:solidFill>
                <a:latin typeface="Gill Sans"/>
                <a:ea typeface="Gill Sans"/>
                <a:cs typeface="Gill Sans"/>
                <a:sym typeface="Gill Sans"/>
              </a:rPr>
              <a:t>The goal here is to create a hybrid architecture for a neural network that can take inputs from both tabular data and behavior using parallel learning along with feature fusion.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1D0D9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rgbClr val="A1D0D9"/>
                </a:solidFill>
                <a:latin typeface="Gill Sans"/>
                <a:ea typeface="Gill Sans"/>
                <a:cs typeface="Gill Sans"/>
                <a:sym typeface="Gill Sans"/>
              </a:rPr>
              <a:t>For comparison between baseline models, hybrid models, or any other model based on the above performances, namely: Accuracy, Precision, Recall, F1, ROC AUC Score.</a:t>
            </a:r>
            <a:endParaRPr/>
          </a:p>
        </p:txBody>
      </p:sp>
      <p:pic>
        <p:nvPicPr>
          <p:cNvPr descr="Presentation with checklist with solid fill" id="130" name="Google Shape;13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0776" y="2379072"/>
            <a:ext cx="665225" cy="66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rget with solid fill" id="131" name="Google Shape;13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3700" y="56200"/>
            <a:ext cx="906575" cy="90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eige oval" id="137" name="Google Shape;137;p15"/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138" name="Google Shape;138;p15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Blue rectangle" id="139" name="Google Shape;139;p15"/>
          <p:cNvSpPr/>
          <p:nvPr/>
        </p:nvSpPr>
        <p:spPr>
          <a:xfrm>
            <a:off x="0" y="0"/>
            <a:ext cx="12192000" cy="6857999"/>
          </a:xfrm>
          <a:custGeom>
            <a:rect b="b" l="l" r="r" t="t"/>
            <a:pathLst>
              <a:path extrusionOk="0" h="3528060" w="6689725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</a:t>
            </a:r>
            <a:r>
              <a:rPr b="1" lang="en-US" sz="3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METHODOLOGY</a:t>
            </a:r>
            <a:r>
              <a:rPr b="1" lang="en-US" sz="3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 b="1"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Beige rectangle" id="140" name="Google Shape;140;p15"/>
          <p:cNvSpPr/>
          <p:nvPr/>
        </p:nvSpPr>
        <p:spPr>
          <a:xfrm flipH="1" rot="10800000">
            <a:off x="267050" y="793016"/>
            <a:ext cx="3666515" cy="11730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pic>
        <p:nvPicPr>
          <p:cNvPr descr="Research with solid fill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8980" y="158696"/>
            <a:ext cx="914400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15"/>
          <p:cNvGrpSpPr/>
          <p:nvPr/>
        </p:nvGrpSpPr>
        <p:grpSpPr>
          <a:xfrm>
            <a:off x="401130" y="1272920"/>
            <a:ext cx="3221509" cy="3077346"/>
            <a:chOff x="1117297" y="283725"/>
            <a:chExt cx="2091753" cy="4181745"/>
          </a:xfrm>
        </p:grpSpPr>
        <p:sp>
          <p:nvSpPr>
            <p:cNvPr id="143" name="Google Shape;143;p1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1117297" y="389070"/>
              <a:ext cx="2048100" cy="4076400"/>
            </a:xfrm>
            <a:prstGeom prst="rect">
              <a:avLst/>
            </a:prstGeom>
            <a:solidFill>
              <a:srgbClr val="FFFFFF"/>
            </a:solidFill>
            <a:ln cap="flat" cmpd="sng" w="246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9"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233929" y="945471"/>
              <a:ext cx="1815000" cy="25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Loan-level structured dataset with borrower, loan, and servicing attributes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This would include key variables: credit score, DTI, LTV, loan amount, interest rate, and loan term.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Missing values are handled through median imputation for numerical data and mode imputation for categorical variables.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Features preprocessed: Numerical features standardized, categorical variables one-hot encoded.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233853" y="470594"/>
              <a:ext cx="1815000" cy="4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2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Data Description &amp; Preprocessing</a:t>
              </a:r>
              <a:endParaRPr sz="1262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4445200" y="1272962"/>
            <a:ext cx="3221735" cy="3077299"/>
            <a:chOff x="1117294" y="283725"/>
            <a:chExt cx="2091900" cy="4181681"/>
          </a:xfrm>
        </p:grpSpPr>
        <p:sp>
          <p:nvSpPr>
            <p:cNvPr id="148" name="Google Shape;148;p1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1117294" y="470606"/>
              <a:ext cx="2091900" cy="3994800"/>
            </a:xfrm>
            <a:prstGeom prst="rect">
              <a:avLst/>
            </a:prstGeom>
            <a:solidFill>
              <a:srgbClr val="FFFFFF"/>
            </a:solidFill>
            <a:ln cap="flat" cmpd="sng" w="246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9"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1233929" y="945471"/>
              <a:ext cx="1815000" cy="25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Direct prepayment events unavailable in dataset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Early prepayment, defined using a proxy based on repayment duration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Early prepayment - loans repaid in fewer months than the median.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Proxy ensured class balance and enabled the possibility of supervised learning without any label leakage.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233853" y="470594"/>
              <a:ext cx="1815000" cy="4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2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Definition of Target Variable</a:t>
              </a:r>
              <a:endParaRPr sz="1262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8489480" y="1272920"/>
            <a:ext cx="3221509" cy="3077346"/>
            <a:chOff x="1117297" y="283725"/>
            <a:chExt cx="2091753" cy="4181745"/>
          </a:xfrm>
        </p:grpSpPr>
        <p:sp>
          <p:nvSpPr>
            <p:cNvPr id="153" name="Google Shape;153;p1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1117297" y="389070"/>
              <a:ext cx="2048100" cy="4076400"/>
            </a:xfrm>
            <a:prstGeom prst="rect">
              <a:avLst/>
            </a:prstGeom>
            <a:solidFill>
              <a:srgbClr val="FFFFFF"/>
            </a:solidFill>
            <a:ln cap="flat" cmpd="sng" w="246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9"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1233926" y="1245617"/>
              <a:ext cx="1815000" cy="27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Selected characteristics of borrowers and loans at origination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Removed identifiers and redundant variables contributing to noisiness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Feature-set consistent across all models for fair comparison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1233853" y="470594"/>
              <a:ext cx="1815000" cy="4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2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Feature Selection &amp; Engineering</a:t>
              </a:r>
              <a:endParaRPr sz="1262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2291613" y="4712883"/>
            <a:ext cx="7608752" cy="1813204"/>
            <a:chOff x="1117297" y="283725"/>
            <a:chExt cx="2091753" cy="4181745"/>
          </a:xfrm>
        </p:grpSpPr>
        <p:sp>
          <p:nvSpPr>
            <p:cNvPr id="158" name="Google Shape;158;p1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117297" y="389070"/>
              <a:ext cx="2048100" cy="4076400"/>
            </a:xfrm>
            <a:prstGeom prst="rect">
              <a:avLst/>
            </a:prstGeom>
            <a:solidFill>
              <a:srgbClr val="FFFFFF"/>
            </a:solidFill>
            <a:ln cap="flat" cmpd="sng" w="246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9"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1233933" y="1139910"/>
              <a:ext cx="1815000" cy="282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Transaction level repayment histories were not available.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Fixed length, synthetic generated behavioural sequences to approximate dynamics of repayment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Sequences padded and masked to have a uniform length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Noise introduced to avoid deterministic patterns and target leakage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233853" y="470594"/>
              <a:ext cx="1815000" cy="4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2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Construction of Behavioral Sequences</a:t>
              </a:r>
              <a:endParaRPr sz="1262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ncil on top of a paper with a printed line graph" id="166" name="Google Shape;166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" y="0"/>
            <a:ext cx="1219198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esk with solid fill" id="168" name="Google Shape;168;p16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731" y="0"/>
            <a:ext cx="1100068" cy="10903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Blue rectangle" id="169" name="Google Shape;169;p16"/>
          <p:cNvSpPr txBox="1"/>
          <p:nvPr>
            <p:ph idx="7" type="body"/>
          </p:nvPr>
        </p:nvSpPr>
        <p:spPr>
          <a:xfrm>
            <a:off x="252875" y="1090400"/>
            <a:ext cx="11685300" cy="544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EFF2"/>
              </a:buClr>
              <a:buSzPts val="2400"/>
              <a:buNone/>
            </a:pPr>
            <a:r>
              <a:rPr b="1" lang="en-US" sz="2400"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EFF2"/>
              </a:buClr>
              <a:buSzPts val="2400"/>
              <a:buNone/>
            </a:pPr>
            <a:r>
              <a:rPr b="1" lang="en-US" sz="2400"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EFF2"/>
              </a:buClr>
              <a:buSzPts val="2000"/>
              <a:buNone/>
            </a:pPr>
            <a:r>
              <a:t/>
            </a:r>
            <a:endParaRPr/>
          </a:p>
        </p:txBody>
      </p:sp>
      <p:grpSp>
        <p:nvGrpSpPr>
          <p:cNvPr id="170" name="Google Shape;170;p16"/>
          <p:cNvGrpSpPr/>
          <p:nvPr/>
        </p:nvGrpSpPr>
        <p:grpSpPr>
          <a:xfrm>
            <a:off x="768716" y="1942454"/>
            <a:ext cx="3221509" cy="3518938"/>
            <a:chOff x="1117297" y="283725"/>
            <a:chExt cx="2091753" cy="4181745"/>
          </a:xfrm>
        </p:grpSpPr>
        <p:sp>
          <p:nvSpPr>
            <p:cNvPr id="171" name="Google Shape;171;p16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1117297" y="389070"/>
              <a:ext cx="2048100" cy="4076400"/>
            </a:xfrm>
            <a:prstGeom prst="rect">
              <a:avLst/>
            </a:prstGeom>
            <a:solidFill>
              <a:srgbClr val="FFFFFF"/>
            </a:solidFill>
            <a:ln cap="flat" cmpd="sng" w="246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9"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1233935" y="1103268"/>
              <a:ext cx="1815000" cy="29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XGBoost and Feed-forward Neural Network for Baseline tabular models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Sequence-based models include LSTM and 1D CNN.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Hybrid model: Parallel architecture including both tabular and sequence inputs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Feature fusion done via concatenation and dense layers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1233853" y="470594"/>
              <a:ext cx="1815000" cy="4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2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Modeling Framework</a:t>
              </a:r>
              <a:endParaRPr sz="1262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175" name="Google Shape;175;p16"/>
          <p:cNvGrpSpPr/>
          <p:nvPr/>
        </p:nvGrpSpPr>
        <p:grpSpPr>
          <a:xfrm>
            <a:off x="4508016" y="1942474"/>
            <a:ext cx="3221509" cy="3518938"/>
            <a:chOff x="1117297" y="283725"/>
            <a:chExt cx="2091753" cy="4181745"/>
          </a:xfrm>
        </p:grpSpPr>
        <p:sp>
          <p:nvSpPr>
            <p:cNvPr id="176" name="Google Shape;176;p16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1117297" y="389070"/>
              <a:ext cx="2048100" cy="4076400"/>
            </a:xfrm>
            <a:prstGeom prst="rect">
              <a:avLst/>
            </a:prstGeom>
            <a:solidFill>
              <a:srgbClr val="FFFFFF"/>
            </a:solidFill>
            <a:ln cap="flat" cmpd="sng" w="246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9"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1233935" y="1171516"/>
              <a:ext cx="1815000" cy="27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Data split using an 80/20 stratified train–test approach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Models were trained using Adam optimizer with binary cross entropy loss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Early stopping is imposed to control overfitting.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Performance measured using Accuracy, Precision, Recall, F1-score, and ROC-AUC.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1233853" y="470594"/>
              <a:ext cx="1815000" cy="4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2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Model Training &amp; Evaluation</a:t>
              </a:r>
              <a:endParaRPr sz="1262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180" name="Google Shape;180;p16"/>
          <p:cNvGrpSpPr/>
          <p:nvPr/>
        </p:nvGrpSpPr>
        <p:grpSpPr>
          <a:xfrm>
            <a:off x="8247330" y="1942474"/>
            <a:ext cx="3221509" cy="3518938"/>
            <a:chOff x="1117297" y="283725"/>
            <a:chExt cx="2091753" cy="4181745"/>
          </a:xfrm>
        </p:grpSpPr>
        <p:sp>
          <p:nvSpPr>
            <p:cNvPr id="181" name="Google Shape;181;p16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1117297" y="389070"/>
              <a:ext cx="2048100" cy="4076400"/>
            </a:xfrm>
            <a:prstGeom prst="rect">
              <a:avLst/>
            </a:prstGeom>
            <a:solidFill>
              <a:srgbClr val="FFFFFF"/>
            </a:solidFill>
            <a:ln cap="flat" cmpd="sng" w="246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9"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1233926" y="1239817"/>
              <a:ext cx="1815000" cy="26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All models evaluated under identical preprocessing and data splits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Emphasis on precision–recall trade-offs relevant to lending decisions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971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ROC-AUC used to assess ranking ability for portfolio-level risk prioritization</a:t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1233853" y="470594"/>
              <a:ext cx="1815000" cy="4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375" lIns="118375" spcFirstLastPara="1" rIns="118375" wrap="square" tIns="118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62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Comparison &amp; Decision-Oriented Analysis</a:t>
              </a:r>
              <a:endParaRPr sz="1262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Blue rectangle" id="191" name="Google Shape;191;p17"/>
          <p:cNvSpPr/>
          <p:nvPr/>
        </p:nvSpPr>
        <p:spPr>
          <a:xfrm>
            <a:off x="-12" y="-2037"/>
            <a:ext cx="12192024" cy="6862077"/>
          </a:xfrm>
          <a:custGeom>
            <a:rect b="b" l="l" r="r" t="t"/>
            <a:pathLst>
              <a:path extrusionOk="0" h="3528060" w="6689725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b="1" lang="en-US" sz="3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RESULTS</a:t>
            </a:r>
            <a:r>
              <a:rPr b="1" lang="en-US" sz="3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 b="1"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Beige rectangle" id="192" name="Google Shape;192;p17"/>
          <p:cNvSpPr/>
          <p:nvPr/>
        </p:nvSpPr>
        <p:spPr>
          <a:xfrm flipH="1" rot="10800000">
            <a:off x="355504" y="850632"/>
            <a:ext cx="1867662" cy="5970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pic>
        <p:nvPicPr>
          <p:cNvPr descr="Close with solid fill" id="193" name="Google Shape;1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026" y="15034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 on document with pen" id="194" name="Google Shape;19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5648" y="0"/>
            <a:ext cx="3056352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7"/>
          <p:cNvGrpSpPr/>
          <p:nvPr/>
        </p:nvGrpSpPr>
        <p:grpSpPr>
          <a:xfrm>
            <a:off x="6325553" y="1064760"/>
            <a:ext cx="5593943" cy="2851928"/>
            <a:chOff x="1593000" y="2322568"/>
            <a:chExt cx="5957975" cy="643500"/>
          </a:xfrm>
        </p:grpSpPr>
        <p:sp>
          <p:nvSpPr>
            <p:cNvPr id="196" name="Google Shape;196;p1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Performance on Sequence-Based Models</a:t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95250" rotWithShape="0" algn="bl" dir="2700000" dist="38100">
                <a:srgbClr val="000000">
                  <a:alpha val="17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2</a:t>
              </a:r>
              <a:endParaRPr sz="35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4387857" y="2363095"/>
              <a:ext cx="2971200" cy="5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The models LSTM and CNN have exhibited excellent ranking capability with high ROC-AUC results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Patterns of repayment over time had pertinent information about prepayment risk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The sequence models were prone to volatile patterns of classification, especially in the recall process</a:t>
              </a: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" name="Google Shape;203;p17"/>
          <p:cNvGrpSpPr/>
          <p:nvPr/>
        </p:nvGrpSpPr>
        <p:grpSpPr>
          <a:xfrm>
            <a:off x="355502" y="1064752"/>
            <a:ext cx="5740509" cy="3057433"/>
            <a:chOff x="1593000" y="2322420"/>
            <a:chExt cx="5957975" cy="694950"/>
          </a:xfrm>
        </p:grpSpPr>
        <p:sp>
          <p:nvSpPr>
            <p:cNvPr id="204" name="Google Shape;204;p1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 flipH="1">
              <a:off x="2282999" y="2322420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Performance of Baseline Model</a:t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95250" rotWithShape="0" algn="bl" dir="2700000" dist="38100">
                <a:srgbClr val="000000">
                  <a:alpha val="17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1</a:t>
              </a:r>
              <a:endParaRPr sz="35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4387853" y="2322570"/>
              <a:ext cx="2971200" cy="6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XGBoost and Feed-forward ANN offered excellent baseline performance on tabular data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Models were successful in identifying nonlinear relationships between borrower attributes and loan attributes.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The results were not enhanced or affected owing to the lack of temporal-behavioral data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11" name="Google Shape;2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2850" y="4539150"/>
            <a:ext cx="8256425" cy="17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Blue rectangle" id="218" name="Google Shape;218;p18"/>
          <p:cNvSpPr/>
          <p:nvPr/>
        </p:nvSpPr>
        <p:spPr>
          <a:xfrm>
            <a:off x="-12" y="-31862"/>
            <a:ext cx="12192024" cy="6862077"/>
          </a:xfrm>
          <a:custGeom>
            <a:rect b="b" l="l" r="r" t="t"/>
            <a:pathLst>
              <a:path extrusionOk="0" h="3528060" w="6689725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 b="1"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Cause And Effect with solid fill" id="219" name="Google Shape;2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320" y="18758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s on papers" id="220" name="Google Shape;22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2208" y="-29817"/>
            <a:ext cx="3299791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18"/>
          <p:cNvGrpSpPr/>
          <p:nvPr/>
        </p:nvGrpSpPr>
        <p:grpSpPr>
          <a:xfrm>
            <a:off x="345315" y="1101960"/>
            <a:ext cx="5750637" cy="4964196"/>
            <a:chOff x="1593000" y="2322420"/>
            <a:chExt cx="5957975" cy="643648"/>
          </a:xfrm>
        </p:grpSpPr>
        <p:sp>
          <p:nvSpPr>
            <p:cNvPr id="222" name="Google Shape;222;p18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 flipH="1">
              <a:off x="2282999" y="2322420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Hybrid Model </a:t>
              </a:r>
              <a:r>
                <a:rPr lang="en-US" sz="13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Performance</a:t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95250" rotWithShape="0" algn="bl" dir="2700000" dist="38100">
                <a:srgbClr val="000000">
                  <a:alpha val="17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3</a:t>
              </a:r>
              <a:endParaRPr sz="35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87854" y="2322572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The hybrid model performed better than all other models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Reached approximately 80% accuracy with an ROC-AUC of 0.96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Achieved near-perfect precision with moderate recall, indicating a conserved approach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Error analysis revealed the complementing strengths of the static and behavioral inputs.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746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100"/>
                <a:buFont typeface="Roboto"/>
                <a:buChar char="●"/>
              </a:pPr>
              <a:r>
                <a:rPr lang="en-US" sz="110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The training and validation loss curves provided evidence of stable convergence and the absence of overfitting.</a:t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29" name="Google Shape;22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5625" y="1101950"/>
            <a:ext cx="5460325" cy="49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wo men look at a plan" id="235" name="Google Shape;235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041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Beige rectangle" id="236" name="Google Shape;236;p19"/>
          <p:cNvSpPr/>
          <p:nvPr/>
        </p:nvSpPr>
        <p:spPr>
          <a:xfrm>
            <a:off x="579775" y="472492"/>
            <a:ext cx="4051368" cy="5913017"/>
          </a:xfrm>
          <a:custGeom>
            <a:rect b="b" l="l" r="r" t="t"/>
            <a:pathLst>
              <a:path extrusionOk="0" h="333375" w="4010659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descr="Beige oval" id="237" name="Google Shape;237;p19"/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descr="Blue rectangle" id="238" name="Google Shape;238;p19"/>
          <p:cNvSpPr/>
          <p:nvPr/>
        </p:nvSpPr>
        <p:spPr>
          <a:xfrm>
            <a:off x="775759" y="678465"/>
            <a:ext cx="10836466" cy="5450242"/>
          </a:xfrm>
          <a:custGeom>
            <a:rect b="b" l="l" r="r" t="t"/>
            <a:pathLst>
              <a:path extrusionOk="0" h="3528060" w="6689725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239" name="Google Shape;239;p19"/>
          <p:cNvSpPr txBox="1"/>
          <p:nvPr>
            <p:ph type="title"/>
          </p:nvPr>
        </p:nvSpPr>
        <p:spPr>
          <a:xfrm>
            <a:off x="1379723" y="980662"/>
            <a:ext cx="4770591" cy="577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ill Sans"/>
              <a:buNone/>
            </a:pPr>
            <a:r>
              <a:rPr lang="en-US" sz="3000">
                <a:solidFill>
                  <a:schemeClr val="lt1"/>
                </a:solidFill>
              </a:rPr>
              <a:t>REFERENCES:</a:t>
            </a:r>
            <a:endParaRPr/>
          </a:p>
        </p:txBody>
      </p:sp>
      <p:sp>
        <p:nvSpPr>
          <p:cNvPr id="240" name="Google Shape;240;p19"/>
          <p:cNvSpPr txBox="1"/>
          <p:nvPr>
            <p:ph idx="12" type="sldNum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heck icon" id="241" name="Google Shape;241;p19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723" y="1699546"/>
            <a:ext cx="720000" cy="719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 icon" id="242" name="Google Shape;242;p19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298" y="2560971"/>
            <a:ext cx="720000" cy="7199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Beige rectangle" id="243" name="Google Shape;243;p19"/>
          <p:cNvSpPr/>
          <p:nvPr/>
        </p:nvSpPr>
        <p:spPr>
          <a:xfrm flipH="1" rot="10800000">
            <a:off x="1358729" y="1541429"/>
            <a:ext cx="4032000" cy="75489"/>
          </a:xfrm>
          <a:custGeom>
            <a:rect b="b" l="l" r="r" t="t"/>
            <a:pathLst>
              <a:path extrusionOk="0" h="120000"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pic>
        <p:nvPicPr>
          <p:cNvPr descr="Check icon" id="244" name="Google Shape;2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723" y="3741545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 icon" id="245" name="Google Shape;24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298" y="4538032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oks outline" id="246" name="Google Shape;24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3943" y="69012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>
            <p:ph idx="5" type="body"/>
          </p:nvPr>
        </p:nvSpPr>
        <p:spPr>
          <a:xfrm>
            <a:off x="1759516" y="1822890"/>
            <a:ext cx="9547581" cy="4054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i="1" lang="en-US"/>
              <a:t>Akinjole, A., Shobayo, O., Popoola, J., Okoyeigbo, O. and Ogunleye, B., 2024. Ensemble-based </a:t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i="1" lang="en-US"/>
              <a:t>machine learning algorithm for loan default risk prediction. Mathematics, 12(21), p.3423. </a:t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i="1" lang="en-US"/>
              <a:t>Chang, V., Sivakulasingam, S., Wang, H., Wong, S.T., Ganatra, M.A. and Luo, J., 2024. Credit </a:t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i="1" lang="en-US"/>
              <a:t>risk prediction using machine learning and deep learning: A study on credit card </a:t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i="1" lang="en-US"/>
              <a:t>customers. Risks, 12(11), p.174. </a:t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i="1" lang="en-US"/>
              <a:t>Jerkerus, J., 2025. Predicting Short-Horizon Prepayment Rates using Machine Learning. </a:t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i="1" lang="en-US"/>
              <a:t>Kim, J.Y. and Cho, S.B., 2022. Ensemble of diverse deep neural networks with pseudo-labels for </a:t>
            </a:r>
            <a:endParaRPr i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i="1" lang="en-US"/>
              <a:t>repayment prediction in social lending. Science Progress, 105(3), p.00368504221124004.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EFF2"/>
              </a:buClr>
              <a:buSzPct val="100000"/>
              <a:buNone/>
            </a:pPr>
            <a:r>
              <a:t/>
            </a:r>
            <a:endParaRPr i="1"/>
          </a:p>
          <a:p>
            <a:pPr indent="-3365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+"/>
            </a:pPr>
            <a:r>
              <a:rPr lang="en-US"/>
              <a:t>11 more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irl with documents" id="253" name="Google Shape;2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1" y="675"/>
            <a:ext cx="12189600" cy="68566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Beige rectangle" id="254" name="Google Shape;254;p20"/>
          <p:cNvSpPr/>
          <p:nvPr/>
        </p:nvSpPr>
        <p:spPr>
          <a:xfrm>
            <a:off x="931203" y="2894901"/>
            <a:ext cx="4176000" cy="0"/>
          </a:xfrm>
          <a:custGeom>
            <a:rect b="b" l="l" r="r" t="t"/>
            <a:pathLst>
              <a:path extrusionOk="0" h="120000" w="4206240">
                <a:moveTo>
                  <a:pt x="0" y="0"/>
                </a:moveTo>
                <a:lnTo>
                  <a:pt x="4206240" y="0"/>
                </a:lnTo>
              </a:path>
            </a:pathLst>
          </a:custGeom>
          <a:noFill/>
          <a:ln cap="flat" cmpd="sng" w="54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"/>
              <a:ea typeface="Arial "/>
              <a:cs typeface="Arial "/>
              <a:sym typeface="Arial "/>
            </a:endParaRPr>
          </a:p>
        </p:txBody>
      </p:sp>
      <p:sp>
        <p:nvSpPr>
          <p:cNvPr id="255" name="Google Shape;255;p20"/>
          <p:cNvSpPr txBox="1"/>
          <p:nvPr>
            <p:ph type="title"/>
          </p:nvPr>
        </p:nvSpPr>
        <p:spPr>
          <a:xfrm>
            <a:off x="838200" y="1701559"/>
            <a:ext cx="485921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Gill Sans"/>
              <a:buNone/>
            </a:pPr>
            <a:r>
              <a:rPr lang="en-US" sz="5000">
                <a:solidFill>
                  <a:schemeClr val="lt1"/>
                </a:solidFill>
              </a:rPr>
              <a:t>THANK YOU!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30">
      <a:dk1>
        <a:srgbClr val="000000"/>
      </a:dk1>
      <a:lt1>
        <a:srgbClr val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